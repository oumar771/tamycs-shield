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🛡  TAMYCS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BCCFF"/>
                </a:solidFill>
              </a:rPr>
              <a:t>PassVault — Gestionnaire de mots de passe sécurisé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291840"/>
            <a:ext cx="7589520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3375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</a:rPr>
              <a:t>Conforme ANSSI  ·  AES-256-GCM  ·  JWT  ·  bcrypt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Oumar Touré  ·  Rodney  ·  Fresnel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ESAIP La Salle  ·  Bachelor 3 Cybersécurité  ·  2025 /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AACC"/>
                </a:solidFill>
              </a:rPr>
              <a:t>Web Programming — Projet de cours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Plan de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21208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18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01 · Introduction &amp; Contexte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521208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41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02 · Objectifs du projet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521208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64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03 · Choix technologiques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521208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87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04 · Architecture générale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521208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10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05 · Base de données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5212080" cy="6858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18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06 · Fonctionnalités clés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240280"/>
            <a:ext cx="5212080" cy="6858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41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07 · Sécurité &amp; ANSSI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63240"/>
            <a:ext cx="5212080" cy="6858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64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08 · Générateur de mots de passe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86200"/>
            <a:ext cx="5212080" cy="6858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987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09 · Gamification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709160"/>
            <a:ext cx="5212080" cy="6858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810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10 · Tests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 &amp;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Pourquoi un gestionnaire de mots de passe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338328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107"/>
                </a:solidFill>
              </a:rPr>
              <a:t>80 %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des violations de données
impliquent des mots de passe
faibles ou volés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38328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417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107"/>
                </a:solidFill>
              </a:rPr>
              <a:t>80+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comptes en ligne gérés
en moyenne par utilisateur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325880"/>
            <a:ext cx="338328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417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107"/>
                </a:solidFill>
              </a:rPr>
              <a:t>12 car.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minimum recommandé
par l'ANSSI pour un
mot de passe sécurisé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11064240" cy="548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67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Problématique : Comment stocker et générer des mots de passe de manière sécurisée, simple et engageante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D2B55"/>
                </a:solidFill>
              </a:rPr>
              <a:t>▸ Solution : Application web fullstack conforme ANSSI avec chiffrement AES-256-GCM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D2B55"/>
                </a:solidFill>
              </a:rPr>
              <a:t>▸ Interface moderne inspirée de Proton Pass — accessible sans expertise en cybersécurité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D2B55"/>
                </a:solidFill>
              </a:rPr>
              <a:t>▸ Système de gamification pour encourager l'adoption de bonnes pratiques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94960" cy="5029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⚙  Objectifs fonctionnels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D2B55"/>
                </a:solidFill>
              </a:rPr>
              <a:t>▸ Inscription / connexion sécurisée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D2B55"/>
                </a:solidFill>
              </a:rPr>
              <a:t>▸ Coffre-fort de mots de passe chiffré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D2B55"/>
                </a:solidFill>
              </a:rPr>
              <a:t>▸ Générateur aléatoire &amp; mémorisable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D2B55"/>
                </a:solidFill>
              </a:rPr>
              <a:t>▸ Catégorisation &amp; recherche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D2B55"/>
                </a:solidFill>
              </a:rPr>
              <a:t>▸ Export CSV / JSON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D2B55"/>
                </a:solidFill>
              </a:rPr>
              <a:t>▸ Historique des mots de passe générés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94960" cy="50292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🔒  Objectifs de sécurité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E7D32"/>
                </a:solidFill>
              </a:rPr>
              <a:t>▸ AES-256-GCM pour les mots de passe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E7D32"/>
                </a:solidFill>
              </a:rPr>
              <a:t>▸ bcrypt 12 rounds (mot de passe maître)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E7D32"/>
                </a:solidFill>
              </a:rPr>
              <a:t>▸ JWT — expiration 15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E7D32"/>
                </a:solidFill>
              </a:rPr>
              <a:t>▸ Rate limiting : 5 tentatives / 15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E7D32"/>
                </a:solidFill>
              </a:rPr>
              <a:t>▸ Politique ANSSI : 12 car. min.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E7D32"/>
                </a:solidFill>
              </a:rPr>
              <a:t>▸ En-têtes sécurité (Helmet.js)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Stack Technologique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Comparaison des approches &amp; choix retenus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32004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8000" y="134416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325880"/>
            <a:ext cx="27432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9839" y="13441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Exemples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25880"/>
            <a:ext cx="475488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4480" y="134416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Pour notre projet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3200400" cy="566928"/>
          </a:xfrm>
          <a:prstGeom prst="rect">
            <a:avLst/>
          </a:prstGeom>
          <a:solidFill>
            <a:srgbClr val="FFEEE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000" y="183388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</a:rPr>
              <a:t>Site builders (Wix…)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783080"/>
            <a:ext cx="2743200" cy="566928"/>
          </a:xfrm>
          <a:prstGeom prst="rect">
            <a:avLst/>
          </a:prstGeom>
          <a:solidFill>
            <a:srgbClr val="FFEEE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9839" y="183388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</a:rPr>
              <a:t>Wix, Weebly, Jimdo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83080"/>
            <a:ext cx="4754880" cy="566928"/>
          </a:xfrm>
          <a:prstGeom prst="rect">
            <a:avLst/>
          </a:prstGeom>
          <a:solidFill>
            <a:srgbClr val="FFEEE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4480" y="183388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</a:rPr>
              <a:t>✗  Pas de contrôle sécurité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3200400" cy="566928"/>
          </a:xfrm>
          <a:prstGeom prst="rect">
            <a:avLst/>
          </a:prstGeom>
          <a:solidFill>
            <a:srgbClr val="FFF8E1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000" y="242824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</a:rPr>
              <a:t>CMS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2377440"/>
            <a:ext cx="2743200" cy="566928"/>
          </a:xfrm>
          <a:prstGeom prst="rect">
            <a:avLst/>
          </a:prstGeom>
          <a:solidFill>
            <a:srgbClr val="FFF8E1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9839" y="242824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</a:rPr>
              <a:t>WordPress, Drupal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377440"/>
            <a:ext cx="4754880" cy="566928"/>
          </a:xfrm>
          <a:prstGeom prst="rect">
            <a:avLst/>
          </a:prstGeom>
          <a:solidFill>
            <a:srgbClr val="FFF8E1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4480" y="242824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C00"/>
                </a:solidFill>
              </a:rPr>
              <a:t>⚠  Surface d'attaque élevée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71800"/>
            <a:ext cx="3200400" cy="566928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000" y="302260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</a:rPr>
              <a:t>HTML/CSS/JS + Backend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971800"/>
            <a:ext cx="2743200" cy="566928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9839" y="302260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</a:rPr>
              <a:t>Node.js + Express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971800"/>
            <a:ext cx="4754880" cy="566928"/>
          </a:xfrm>
          <a:prstGeom prst="rect">
            <a:avLst/>
          </a:prstGeom>
          <a:solidFill>
            <a:srgbClr val="E8F5E9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4480" y="302260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✓  Contrôle total — CHOIX RETENU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57600"/>
            <a:ext cx="11064240" cy="25603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730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Technologies retenues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187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  Backend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1879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Node.js 18+  ·  Express 4  ·  Mongoose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  Sécurité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572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AES-256-GCM  ·  bcrypt  ·  JWT  ·  Helmet  ·  express-rate-limit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956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  Base de données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9560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MongoDB — 5 collections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3400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  Frontend 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34009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HTML5  ·  CSS3  ·  JavaScript Vanilla (SPA)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7241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  Dev / Qualité 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72414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Nodemon  ·  Jest  ·  Supertest  ·  ESLint  ·  Prettier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MVC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Node.js / Express /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743200" cy="41148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🌐  FRONTEND
HTML5 · CSS3 · JS
SPA publique
+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2743200" cy="4114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⚙  API REST
Express.js
Routes · Controllers
Middleware ·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371600"/>
            <a:ext cx="2743200" cy="4114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5544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🗄  MONGODB
users
passwords
categories
gamifications
passwordhistories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20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──  HTTP / JSON  ──►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200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──  Mongoose ODM  ──►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Structure du projet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src/controllers/  ·  src/models/  ·  src/middleware/  ·  src/routes/  ·  src/services/  ·  src/utils/  ·  public/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MongoDB — 5 collections avec Mongoose ODM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8404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120" y="1330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📄 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3840480" cy="1463040"/>
          </a:xfrm>
          <a:prstGeom prst="rect">
            <a:avLst/>
          </a:prstGeom>
          <a:solidFill>
            <a:srgbClr val="F0F5FF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691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842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email (unique)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2768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masterPassword (bcrypt)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56946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862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createdAt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38404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120" y="3251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📄  passwords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84448"/>
            <a:ext cx="3840480" cy="2340864"/>
          </a:xfrm>
          <a:prstGeom prst="rect">
            <a:avLst/>
          </a:prstGeom>
          <a:solidFill>
            <a:srgbClr val="F0F5FF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611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9044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userId (ref)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1970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4897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username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7823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encryptedPassword {encrypted, iv, salt, authTag}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074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3675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6601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notes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280160"/>
            <a:ext cx="38404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8480" y="1330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📄  categories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1664208"/>
            <a:ext cx="3840480" cy="1755648"/>
          </a:xfrm>
          <a:prstGeom prst="rect">
            <a:avLst/>
          </a:prstGeom>
          <a:solidFill>
            <a:srgbClr val="F0F5FF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1691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19842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userId (ref)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22768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56946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icon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2862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color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154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isDefault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200400"/>
            <a:ext cx="38404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8480" y="3251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📄  gamifications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3584448"/>
            <a:ext cx="3840480" cy="2048256"/>
          </a:xfrm>
          <a:prstGeom prst="rect">
            <a:avLst/>
          </a:prstGeom>
          <a:solidFill>
            <a:srgbClr val="F0F5FF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3611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39044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userId (unique)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1970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44897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level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7823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badges[]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074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achievements{}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3675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statistics{}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1280160"/>
            <a:ext cx="38404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0400" y="1330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📄  passwordhistories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1664208"/>
            <a:ext cx="3840480" cy="2340864"/>
          </a:xfrm>
          <a:prstGeom prst="rect">
            <a:avLst/>
          </a:prstGeom>
          <a:solidFill>
            <a:srgbClr val="F0F5FF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1691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19842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userId (ref)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2768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generatedPassword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256946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length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2862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options{}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3154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strength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4472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entropy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37398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</a:rPr>
              <a:t>  · used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989320"/>
            <a:ext cx="11430000" cy="4114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0167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C00"/>
                </a:solidFill>
              </a:rPr>
              <a:t>🔐  Les mots de passe sont stockés chiffrés (AES-256-GCM). Seul le serveur peut les déchiffrer avec la clé de chiffrement.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Interface utilisateur &amp; API 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474720" cy="2103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Coffre-fort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FF"/>
                </a:solidFill>
              </a:rPr>
              <a:t>Stockage chiffré
des identifiants
(AES-256-GCM)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474720" cy="210312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Recherche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774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FF"/>
                </a:solidFill>
              </a:rPr>
              <a:t>Filtrage temps réel
par titre, URL,
catégorie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474720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Générateur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3774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FF"/>
                </a:solidFill>
              </a:rPr>
              <a:t>Mode aléatoire
&amp; mémorisable
avec entropie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3474720" cy="2103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Catégories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548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FF"/>
                </a:solidFill>
              </a:rPr>
              <a:t>8 catégories
pré-définies
+ personnalisées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794760"/>
            <a:ext cx="3474720" cy="21031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7548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FF"/>
                </a:solidFill>
              </a:rPr>
              <a:t>CSV &amp; JSON
avec vérification
du mot de passe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794760"/>
            <a:ext cx="3474720" cy="2103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Gamification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7548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FF"/>
                </a:solidFill>
              </a:rPr>
              <a:t>Points, niveaux
et badges de
sécurité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Sécurité — Conformité ANSSI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Mécanismes de protection implémentés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65760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 AES-256-GCM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</a:rPr>
              <a:t>Chiffrement authentifié
PBKDF2 (100k itérations)
IV aléatoire par entrée
Auth tag 16 octets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325880"/>
            <a:ext cx="365760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  bcrypt — 12 rounds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745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</a:rPr>
              <a:t>Hachage du mot de passe maître
~250 ms/tentative
Protection brute-force
Salt automatique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325880"/>
            <a:ext cx="365760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🎫  JWT Bearer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8745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</a:rPr>
              <a:t>Token expiration : 15 min
Pas de sessions côté serveur
Vérification sur chaque route
HS256 signing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94760"/>
            <a:ext cx="3657600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⏱  Rate Limiting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</a:rPr>
              <a:t>5 tentatives / 15 min
Par adresse IP
Sur l'endpoint /login
express-rate-limit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794760"/>
            <a:ext cx="3657600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 Politique ANSSI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</a:rPr>
              <a:t>12 caractères minimum
Majuscule + Minuscule
Chiffre + Symbole
Validation express-validator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3794760"/>
            <a:ext cx="3657600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🪖  Helmet.js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</a:rPr>
              <a:t>Content-Security-Policy
X-Frame-Options: DENY
X-Content-Type-Options
HSTS (HTTPS only)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Générateur de Mots de Passe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Modes aléatoire &amp; mémorisable avec calcul d'entropie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303520" cy="48463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⚡  Mode aléatoire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0D2B55"/>
                </a:solidFill>
              </a:rPr>
              <a:t>▸ Longueur : 8 à 64 caractères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D2B55"/>
                </a:solidFill>
              </a:rPr>
              <a:t>▸ Sets : minuscules, majuscules,
     chiffres, symboles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D2B55"/>
                </a:solidFill>
              </a:rPr>
              <a:t>▸ Génération cryptographique
     (crypto.randomBytes)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D2B55"/>
                </a:solidFill>
              </a:rPr>
              <a:t>▸ Entropie = longueur × log₂(charset)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D2B55"/>
                </a:solidFill>
              </a:rPr>
              <a:t>▸ Exemple (16 car., tous sets) :
     Entropie ≈ 105 bits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D2B55"/>
                </a:solidFill>
              </a:rPr>
              <a:t>▸ → Crack time : plusieurs milliards d'années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325880"/>
            <a:ext cx="566928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🧠  Mode mémorisable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Liste de mots anglais (nature,
     animaux, technologie, mythologie…)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3 à 8 mots par mot de passe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Séparateurs variés : - . , _ espace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Option capitalisation &amp; chiffres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Exemple :
     Tiger-Frost-Cipher-42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Plus mémorisable, entropie correcte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263640"/>
            <a:ext cx="1143000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81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5555"/>
                </a:solidFill>
              </a:rPr>
              <a:t>&lt; 28 bits : Très faible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6281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5C00"/>
                </a:solidFill>
              </a:rPr>
              <a:t>28-36 : Faible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6281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107"/>
                </a:solidFill>
              </a:rPr>
              <a:t>36-60 : Moyen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6281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BB6A"/>
                </a:solidFill>
              </a:rPr>
              <a:t>60-80 : 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6281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&gt; 80 bits : Très fort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Système de Gamification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Encourager les bonnes pratiques de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La gamification rend la cybersécurité engageante : chaque bonne action est récompensée.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530352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Points &amp; Niveaux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→  Points attribués à chaque action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→  Niveau = floor(points / 100) + 1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→  Statistiques : total générés, sauvegardés,
     force moyenne, catégorie favorite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74519"/>
            <a:ext cx="5669280" cy="2286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9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🏆  Badges disponibles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505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🔑  Premier Pas
     1er MDP créé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4505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🛡️  Gardien
     10 MDP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4505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⭐  Expert
     50 MDP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2278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🔒  Pro Sécu
     20 forts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2278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📁  Organisateur
     5 catégories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2278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📅  Fidèle
     7 jours consécutifs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97680"/>
            <a:ext cx="11430000" cy="18288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70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Exemple de progression utilisateur 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1920240" cy="1143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Inscription
0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212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4800600"/>
            <a:ext cx="1920240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0048" y="48920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1er MDP sauvegardé
+10 pts 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5212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82896" y="4800600"/>
            <a:ext cx="1920240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82896" y="48920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 MDP forts
+50 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5212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95744" y="4800600"/>
            <a:ext cx="1920240" cy="1143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95744" y="48920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 MDP créés
+100 pts 🛡️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5212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08592" y="4800600"/>
            <a:ext cx="1920240" cy="11430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48920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Niveau 2
200 pts 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Tests &amp; Qualité du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FF"/>
                </a:solidFill>
              </a:rPr>
              <a:t>Jest · Supertest · ESLint · Prettier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486400" cy="2743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📊  Seuils de couverture (Jest)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Branches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021840"/>
            <a:ext cx="274320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2021840"/>
            <a:ext cx="219456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80 %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Fonctions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524760"/>
            <a:ext cx="274320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2524760"/>
            <a:ext cx="219456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423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80 %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Lignes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027680"/>
            <a:ext cx="274320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027680"/>
            <a:ext cx="233172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926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85 %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Statements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3530600"/>
            <a:ext cx="274320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3530600"/>
            <a:ext cx="233172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85 %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325880"/>
            <a:ext cx="530352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🛠  Outils de qualité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9202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Jest — Tests unitaires et intégration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Supertest — Tests API HTTP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ESLint — Analyse statique du code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Prettier — Formatage automatique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E7D32"/>
                </a:solidFill>
              </a:rPr>
              <a:t>▸ Nodemon — Hot reload en développement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06240"/>
            <a:ext cx="11430000" cy="2011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97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🌿  Git Workflow — Branches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00600"/>
            <a:ext cx="2011680" cy="109728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56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560" y="5257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BBFF"/>
                </a:solidFill>
              </a:rPr>
              <a:t>Production stable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4800600"/>
            <a:ext cx="201168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256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dev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2560" y="5257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BBFF"/>
                </a:solidFill>
              </a:rPr>
              <a:t>Intégration continue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4800600"/>
            <a:ext cx="2011680" cy="10972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856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feature/oumar-toure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8560" y="5257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BBFF"/>
                </a:solidFill>
              </a:rPr>
              <a:t>Full-Stack Dev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800600"/>
            <a:ext cx="2011680" cy="10972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7456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feature/rodney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4560" y="5257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BBFF"/>
                </a:solidFill>
              </a:rPr>
              <a:t>Security Analyst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4800600"/>
            <a:ext cx="2011680" cy="10972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6056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feature/fresnel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0560" y="5257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BBFF"/>
                </a:solidFill>
              </a:rPr>
              <a:t>Backend &amp;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TAMYCS Shield — ESAIP La Salle · Bachelor 3 Cybersécurité ·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2468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✅  Bilan du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✓  Architecture MVC sécurisée et modulaire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✓  Chiffrement AES-256-GCM conforme ANSSI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✓  Générateur double-mode avec entropie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✓  Gamification pour l'adoption sécurité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✓  Export et portabilité des données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03520" cy="2468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🚀  Perspectives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→  Authentification 2FA (TOTP/SMS)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→  Extension navigateur (auto-fill)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→  Architecture Zero-Knowledge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→  Application mobile (React Native)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→  Partage sécurisé de mots de passe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TAMYCS Shield démontre qu'il est possible de rendre la sécurité
accessible, engageante et techniquement robuste.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107"/>
                </a:solidFill>
              </a:rPr>
              <a:t>Merci pour votre attention  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DD"/>
                </a:solidFill>
              </a:rPr>
              <a:t>Oumar Touré  ·  Rodney  ·  Fresnel
ESAIP La Salle — Bachelor 3 Cybersécurité —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